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B7A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514350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4" name="Shape 2"/>
          <p:cNvSpPr/>
          <p:nvPr/>
        </p:nvSpPr>
        <p:spPr>
          <a:xfrm>
            <a:off x="329184" y="0"/>
            <a:ext cx="54864" cy="5143500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0"/>
            <a:ext cx="54864" cy="5143500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6" name="Shape 4"/>
          <p:cNvSpPr/>
          <p:nvPr/>
        </p:nvSpPr>
        <p:spPr>
          <a:xfrm>
            <a:off x="9015984" y="0"/>
            <a:ext cx="91440" cy="514350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"/>
            <a:ext cx="502920" cy="128016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0" y="73152"/>
            <a:ext cx="128016" cy="502920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7772400" cy="1280160"/>
          </a:xfrm>
          <a:prstGeom prst="rect">
            <a:avLst/>
          </a:prstGeom>
          <a:solidFill>
            <a:srgbClr val="4DD6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A1628">
                    <a:alpha val="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 AI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0080" y="1005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AI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powered report analyzer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Samridhi Roy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Infosys Springboard Cohort 7 Initiative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2062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80467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manual blood report interpretation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2062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80467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 and achieve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2062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54864" cy="80467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AI pipeline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2062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54864" cy="80467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70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data processing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005840"/>
            <a:ext cx="42062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005840"/>
            <a:ext cx="54864" cy="80467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051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development plan &amp; evaluation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1965960"/>
            <a:ext cx="42062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965960"/>
            <a:ext cx="54864" cy="80467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011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libraries, and AI models used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926080"/>
            <a:ext cx="42062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926080"/>
            <a:ext cx="54864" cy="80467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9718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4068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Results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walkthrough and outcomes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3886200"/>
            <a:ext cx="4206240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37760" y="3886200"/>
            <a:ext cx="54864" cy="80467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931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4068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4270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learnings,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reports contain complex clinical data that patients and even some healthcare workers struggle to interpret quickly and accurately — leading to delayed diagnoses, missed warning signs, and uninformed health decisions.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4114800" cy="1097280"/>
          </a:xfrm>
          <a:prstGeom prst="rect">
            <a:avLst/>
          </a:prstGeom>
          <a:solidFill>
            <a:srgbClr val="102840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Interpret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reports use medical jargon and reference ranges that most patients cannot understand without professional help.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4114800" cy="1097280"/>
          </a:xfrm>
          <a:prstGeom prst="rect">
            <a:avLst/>
          </a:prstGeom>
          <a:solidFill>
            <a:srgbClr val="102840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by doctors takes time — critical findings can be delayed, especially in high-volume settings.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1097280"/>
          </a:xfrm>
          <a:prstGeom prst="rect">
            <a:avLst/>
          </a:prstGeom>
          <a:solidFill>
            <a:srgbClr val="102840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Patterns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values may look normal, but dangerous combinations of abnormal markers are easy to miss.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566160"/>
            <a:ext cx="4114800" cy="1097280"/>
          </a:xfrm>
          <a:prstGeom prst="rect">
            <a:avLst/>
          </a:prstGeom>
          <a:solidFill>
            <a:srgbClr val="102840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86400" y="3657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4023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reference ranges ignore patient-specific factors like age, sex, and pregnancy status.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4864" cy="118872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33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Inference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43560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user input and report context to understand the user's underlying health goals, even when requests are vague or implicit.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54864" cy="118872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033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Ambiguity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56048" y="143560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incomplete or unclear blood report data by making medically sound assumptions and asking targeted clarifying questions.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286000"/>
            <a:ext cx="54864" cy="118872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276148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patient context — age, sex, pregnancy — to refine interpretation and risk assessment over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28600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86000"/>
            <a:ext cx="54864" cy="118872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2359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 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276148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identified health risks into actionable multi-step workflows including dietary, lifestyle, and medical referral advice.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11880"/>
            <a:ext cx="54864" cy="118872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85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685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Interaction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408736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anticipatory, intuitive AI experience that reduces the need for users to formulate overly technical queries.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1480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54864" cy="118872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3685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6850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56048" y="408736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accessible Streamlit interface enabling direct patient-facing interaction with the AI system.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solidFill>
            <a:srgbClr val="007A8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2468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3619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 / CSV Upload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677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Text Extraction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9923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992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Cleaning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04288" y="1691640"/>
            <a:ext cx="128016" cy="9144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960120"/>
            <a:ext cx="2011680" cy="411480"/>
          </a:xfrm>
          <a:prstGeom prst="rect">
            <a:avLst/>
          </a:prstGeom>
          <a:solidFill>
            <a:srgbClr val="0070A8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1417320"/>
            <a:ext cx="2011680" cy="2468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153619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70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5361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Parameter Interpreter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42032" y="226771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70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22677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Pattern &amp; Risk Engine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42032" y="299923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70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7752" y="29992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Context Adjuster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1691640"/>
            <a:ext cx="128016" cy="9144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24" name="Shape 22"/>
          <p:cNvSpPr/>
          <p:nvPr/>
        </p:nvSpPr>
        <p:spPr>
          <a:xfrm>
            <a:off x="4626864" y="960120"/>
            <a:ext cx="2011680" cy="411480"/>
          </a:xfrm>
          <a:prstGeom prst="rect">
            <a:avLst/>
          </a:prstGeom>
          <a:solidFill>
            <a:srgbClr val="005580"/>
          </a:solidFill>
          <a:ln/>
        </p:spPr>
      </p:sp>
      <p:sp>
        <p:nvSpPr>
          <p:cNvPr id="25" name="Text 23"/>
          <p:cNvSpPr/>
          <p:nvPr/>
        </p:nvSpPr>
        <p:spPr>
          <a:xfrm>
            <a:off x="4626864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26864" y="1417320"/>
            <a:ext cx="2011680" cy="2468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5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153619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55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5361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Synthesizer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18304" y="226771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55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22677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Aggregator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18304" y="299923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55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29992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Reviewer (Groq)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56832" y="1691640"/>
            <a:ext cx="128016" cy="9144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4" name="Shape 32"/>
          <p:cNvSpPr/>
          <p:nvPr/>
        </p:nvSpPr>
        <p:spPr>
          <a:xfrm>
            <a:off x="6803136" y="960120"/>
            <a:ext cx="2011680" cy="411480"/>
          </a:xfrm>
          <a:prstGeom prst="rect">
            <a:avLst/>
          </a:prstGeom>
          <a:solidFill>
            <a:srgbClr val="003D5C"/>
          </a:solidFill>
          <a:ln/>
        </p:spPr>
      </p:sp>
      <p:sp>
        <p:nvSpPr>
          <p:cNvPr id="35" name="Text 33"/>
          <p:cNvSpPr/>
          <p:nvPr/>
        </p:nvSpPr>
        <p:spPr>
          <a:xfrm>
            <a:off x="6803136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03136" y="1417320"/>
            <a:ext cx="2011680" cy="24688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94576" y="153619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0296" y="153619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Generator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94576" y="226771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0296" y="226771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Export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94576" y="2999232"/>
            <a:ext cx="182880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0296" y="29992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Display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343400"/>
            <a:ext cx="1280160" cy="502920"/>
          </a:xfrm>
          <a:prstGeom prst="rect">
            <a:avLst/>
          </a:prstGeom>
          <a:solidFill>
            <a:srgbClr val="102840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343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74520" y="4343400"/>
            <a:ext cx="1280160" cy="502920"/>
          </a:xfrm>
          <a:prstGeom prst="rect">
            <a:avLst/>
          </a:prstGeom>
          <a:solidFill>
            <a:srgbClr val="102840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74520" y="4343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91840" y="4343400"/>
            <a:ext cx="1280160" cy="502920"/>
          </a:xfrm>
          <a:prstGeom prst="rect">
            <a:avLst/>
          </a:prstGeom>
          <a:solidFill>
            <a:srgbClr val="102840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4343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4343400"/>
            <a:ext cx="1280160" cy="502920"/>
          </a:xfrm>
          <a:prstGeom prst="rect">
            <a:avLst/>
          </a:prstGeom>
          <a:solidFill>
            <a:srgbClr val="102840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343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python-pptx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126480" y="4343400"/>
            <a:ext cx="1280160" cy="502920"/>
          </a:xfrm>
          <a:prstGeom prst="rect">
            <a:avLst/>
          </a:prstGeom>
          <a:solidFill>
            <a:srgbClr val="102840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4343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543800" y="4343400"/>
            <a:ext cx="1280160" cy="502920"/>
          </a:xfrm>
          <a:prstGeom prst="rect">
            <a:avLst/>
          </a:prstGeom>
          <a:solidFill>
            <a:srgbClr val="102840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43800" y="43434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JSON DB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48840" y="1389888"/>
            <a:ext cx="256032" cy="54864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874520" cy="1645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024128"/>
            <a:ext cx="594360" cy="594360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24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Reception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report uploaded as PDF, image, or CSV via Streamlit 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25112" y="1389888"/>
            <a:ext cx="256032" cy="54864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11" name="Shape 9"/>
          <p:cNvSpPr/>
          <p:nvPr/>
        </p:nvSpPr>
        <p:spPr>
          <a:xfrm>
            <a:off x="2450592" y="914400"/>
            <a:ext cx="1874520" cy="1645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90672" y="1024128"/>
            <a:ext cx="594360" cy="594360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13" name="Text 11"/>
          <p:cNvSpPr/>
          <p:nvPr/>
        </p:nvSpPr>
        <p:spPr>
          <a:xfrm>
            <a:off x="3090672" y="1024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17190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Extraction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20848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extracted via Tesseract OCR; key parameters identified using keyword maps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01384" y="1389888"/>
            <a:ext cx="256032" cy="54864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17" name="Shape 15"/>
          <p:cNvSpPr/>
          <p:nvPr/>
        </p:nvSpPr>
        <p:spPr>
          <a:xfrm>
            <a:off x="4626864" y="914400"/>
            <a:ext cx="1874520" cy="1645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66944" y="1024128"/>
            <a:ext cx="594360" cy="594360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19" name="Text 17"/>
          <p:cNvSpPr/>
          <p:nvPr/>
        </p:nvSpPr>
        <p:spPr>
          <a:xfrm>
            <a:off x="5266944" y="1024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18304" y="17190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20848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cleaned, standardized, and validated against parameter reference ranges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914400"/>
            <a:ext cx="1874520" cy="1645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43216" y="1024128"/>
            <a:ext cx="594360" cy="594360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24" name="Text 22"/>
          <p:cNvSpPr/>
          <p:nvPr/>
        </p:nvSpPr>
        <p:spPr>
          <a:xfrm>
            <a:off x="7443216" y="1024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94576" y="17190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4576" y="20848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flags H/L/N; Model 2 scores risk patterns; Model 3 applies age/sex context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3401568"/>
            <a:ext cx="256032" cy="54864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2926080"/>
            <a:ext cx="1874520" cy="1645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3035808"/>
            <a:ext cx="594360" cy="594360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65760" y="37307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0965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all models aggregated into coherent clinical summary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25112" y="3401568"/>
            <a:ext cx="256032" cy="54864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4" name="Shape 32"/>
          <p:cNvSpPr/>
          <p:nvPr/>
        </p:nvSpPr>
        <p:spPr>
          <a:xfrm>
            <a:off x="2450592" y="2926080"/>
            <a:ext cx="1874520" cy="1645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90672" y="3035808"/>
            <a:ext cx="594360" cy="594360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36" name="Text 34"/>
          <p:cNvSpPr/>
          <p:nvPr/>
        </p:nvSpPr>
        <p:spPr>
          <a:xfrm>
            <a:off x="3090672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542032" y="37307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42032" y="40965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 generates patient-specific diagnosis, risks, and lifestyle advice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01384" y="3401568"/>
            <a:ext cx="256032" cy="54864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40" name="Shape 38"/>
          <p:cNvSpPr/>
          <p:nvPr/>
        </p:nvSpPr>
        <p:spPr>
          <a:xfrm>
            <a:off x="4626864" y="2926080"/>
            <a:ext cx="1874520" cy="1645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266944" y="3035808"/>
            <a:ext cx="594360" cy="594360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42" name="Text 40"/>
          <p:cNvSpPr/>
          <p:nvPr/>
        </p:nvSpPr>
        <p:spPr>
          <a:xfrm>
            <a:off x="5266944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718304" y="37307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18304" y="40965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into Diet, Exercise, Lifestyle, and When to See a Doctor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03136" y="2926080"/>
            <a:ext cx="1874520" cy="1645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443216" y="3035808"/>
            <a:ext cx="594360" cy="594360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47" name="Text 45"/>
          <p:cNvSpPr/>
          <p:nvPr/>
        </p:nvSpPr>
        <p:spPr>
          <a:xfrm>
            <a:off x="7443216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94576" y="37307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94576" y="409651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generated with risk charts, AI narrative, and medical disclaimers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— THREE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Model-1 tells us if values are High / Low / Normal   |   Model-2 asks: "What does this combination mean?"   |   Model-3 asks: "Does age or gender change the interpretation?"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88920" cy="3520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5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788920" cy="45720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9019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Interpreter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individual parameter values against sex/age-adjusted reference ranges from parameter_ranges.json.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971800"/>
            <a:ext cx="109728" cy="109728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→ Low (9.8 &lt; 12.0)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3410712"/>
            <a:ext cx="109728" cy="109728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649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SGOT/AST → High (108 &gt; 40)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849624"/>
            <a:ext cx="109728" cy="109728"/>
          </a:xfrm>
          <a:prstGeom prst="ellipse">
            <a:avLst/>
          </a:prstGeom>
          <a:solidFill>
            <a:srgbClr val="00B5C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03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Glucose → Borderline (108)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4370832"/>
            <a:ext cx="2578608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37083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 / L / N status per parameter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1371600"/>
            <a:ext cx="2788920" cy="35204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371600"/>
            <a:ext cx="2788920" cy="4572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13716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0128" y="19019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&amp; Risk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10128" y="228600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combinations of parameters to identify clinically relevant patterns and compute condition risk scores.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2971800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9260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WBC + Low Hemoglobin → Infection/Anemia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3410712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3649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LDL/HDL ratio &gt; 3.5 → Cardiac Risk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3849624"/>
            <a:ext cx="109728" cy="1097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3803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Glucose + Cholesterol → Diabetes Risk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0128" y="4370832"/>
            <a:ext cx="2578608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437083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Risk scores 1–5 per condition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1371600"/>
            <a:ext cx="2788920" cy="3520440"/>
          </a:xfrm>
          <a:prstGeom prst="rect">
            <a:avLst/>
          </a:prstGeom>
          <a:solidFill>
            <a:srgbClr val="0D2137"/>
          </a:solidFill>
          <a:ln w="12700">
            <a:solidFill>
              <a:srgbClr val="4DD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371600"/>
            <a:ext cx="2788920" cy="457200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13716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190195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Adjuster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36208" y="2286000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thresholds and risk interpretations using patient metadata — age, biological sex, and pregnancy status.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36208" y="2971800"/>
            <a:ext cx="109728" cy="109728"/>
          </a:xfrm>
          <a:prstGeom prst="ellipse">
            <a:avLst/>
          </a:prstGeom>
          <a:solidFill>
            <a:srgbClr val="4DD6E6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29260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Female: Hemoglobin threshold = 12.0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36208" y="3410712"/>
            <a:ext cx="109728" cy="109728"/>
          </a:xfrm>
          <a:prstGeom prst="ellipse">
            <a:avLst/>
          </a:prstGeom>
          <a:solidFill>
            <a:srgbClr val="4DD6E6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33649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 60: Adjusted glucose tolerance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3849624"/>
            <a:ext cx="109728" cy="109728"/>
          </a:xfrm>
          <a:prstGeom prst="ellipse">
            <a:avLst/>
          </a:prstGeom>
          <a:solidFill>
            <a:srgbClr val="4DD6E6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80390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Pregnant: Modified reference ranges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36208" y="4370832"/>
            <a:ext cx="2578608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4DD6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4370832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D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Context-refined final risk profile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MILESTONES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86868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078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Parameter Interpretation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parser for PDF, image, CSV  ·  OCR extraction engine  ·  Data validation &amp; unit standardization  ·  Model 1: H/L/N classification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1115568"/>
            <a:ext cx="13258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11556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extraction accuracy · &gt;98% classification accuracy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84124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11680"/>
            <a:ext cx="64008" cy="86868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148840"/>
            <a:ext cx="457200" cy="4572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084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377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&amp; Contextual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Pattern detection &amp; risk scores  ·  Model 3: Age/sex context adjustment  ·  Integration of Models 1, 2, 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2121408"/>
            <a:ext cx="13258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12140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 pattern accuracy · &gt;90% risk plausibility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84124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4DD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17520"/>
            <a:ext cx="64008" cy="868680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383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&amp; Recommendation Generation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synthesis engine  ·  Personalized recommendation generator  ·  Diet / Exercise / Lifestyle / Doctor categories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06640" y="3127248"/>
            <a:ext cx="13258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4DD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312724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D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summary accuracy · &gt;90% recommendation relevance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0D213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023360"/>
            <a:ext cx="64008" cy="86868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4160520"/>
            <a:ext cx="457200" cy="45720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" y="4389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&amp; Report Generation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integration  ·  AI clinical review via Groq  ·  PDF report export with charts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406640" y="4133088"/>
            <a:ext cx="132588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4133088"/>
            <a:ext cx="1325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workflow success rate · &gt;90% report clarity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3977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011680" cy="43891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" y="1481328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727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95681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framework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2560320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6517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30358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styling &amp; dark theme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3639312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730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411480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chart visualization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96312" y="914400"/>
            <a:ext cx="2011680" cy="3977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6312" y="914400"/>
            <a:ext cx="2011680" cy="43891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8" name="Text 16"/>
          <p:cNvSpPr/>
          <p:nvPr/>
        </p:nvSpPr>
        <p:spPr>
          <a:xfrm>
            <a:off x="2496312" y="914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MODELS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1481328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15727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195681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Instant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06040" y="2560320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6517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0358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risk engines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3639312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3730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411480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/ pdf2image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26864" y="914400"/>
            <a:ext cx="2011680" cy="3977640"/>
          </a:xfrm>
          <a:prstGeom prst="rect">
            <a:avLst/>
          </a:prstGeom>
          <a:solidFill>
            <a:srgbClr val="0D2137"/>
          </a:solidFill>
          <a:ln w="12700">
            <a:solidFill>
              <a:srgbClr val="4DD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914400"/>
            <a:ext cx="2011680" cy="438912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30" name="Text 28"/>
          <p:cNvSpPr/>
          <p:nvPr/>
        </p:nvSpPr>
        <p:spPr>
          <a:xfrm>
            <a:off x="4626864" y="914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36592" y="1481328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4DD6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15727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82312" y="195681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2560320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4DD6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26517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82312" y="30358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36592" y="3639312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4DD6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3730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json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82312" y="411480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57416" y="914400"/>
            <a:ext cx="2011680" cy="3977640"/>
          </a:xfrm>
          <a:prstGeom prst="rect">
            <a:avLst/>
          </a:prstGeom>
          <a:solidFill>
            <a:srgbClr val="0D213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57416" y="914400"/>
            <a:ext cx="2011680" cy="43891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42" name="Text 40"/>
          <p:cNvSpPr/>
          <p:nvPr/>
        </p:nvSpPr>
        <p:spPr>
          <a:xfrm>
            <a:off x="6757416" y="9144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67144" y="1481328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157276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parameter_ranges.json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12864" y="195681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Sex-specific reference ranges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67144" y="2560320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12864" y="265176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report parser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12864" y="30358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extractor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67144" y="3639312"/>
            <a:ext cx="1792224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12864" y="37307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adjuster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12864" y="4114800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scoring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69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1069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Upload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PDF, PNG, JPG, and CSV blood reports with OCR text extraction and editable correction.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974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69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13632" y="1069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Value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61848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flags High and Low values against sex-specific reference ranges with normal range shown alongside.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974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069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48272" y="10698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Risk Cards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61848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condition risk scores displayed as green/orange/red metric cards with 1–5 scale and interactive bar chart.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974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78992" y="3035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Review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LLaMA generates structured diagnosis, key abnormalities, risk level, and personalized advice.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974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913632" y="3035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Recommendations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58444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advice split into Diet, Exercise, Lifestyle, and When to See a Doctor sections.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974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7220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48272" y="30358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 Export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584448"/>
            <a:ext cx="24505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styled report with patient card, risk tables, AI narrative, and recommendations — downloadable instantly.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Extraction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6596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7899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H/L/N Classification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6596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4DD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7899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D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65960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7899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7512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5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APPROACH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114800" cy="7772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17520"/>
            <a:ext cx="54864" cy="77724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diverse blood reports across different labs and formats used for benchmark testing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7772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54864" cy="77724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expert validation of risk scores and recommendation quality across all milestones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4114800" cy="7772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931920"/>
            <a:ext cx="54864" cy="77724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 run on complete test set measuring success rate and report clarity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931920"/>
            <a:ext cx="4114800" cy="7772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931920"/>
            <a:ext cx="54864" cy="77724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user testing with the Streamlit interface to validate usability and output clarity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B7A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91440" cy="514350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4" name="Shape 2"/>
          <p:cNvSpPr/>
          <p:nvPr/>
        </p:nvSpPr>
        <p:spPr>
          <a:xfrm>
            <a:off x="329184" y="0"/>
            <a:ext cx="54864" cy="5143500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5" name="Shape 3"/>
          <p:cNvSpPr/>
          <p:nvPr/>
        </p:nvSpPr>
        <p:spPr>
          <a:xfrm>
            <a:off x="8924544" y="0"/>
            <a:ext cx="54864" cy="5143500"/>
          </a:xfrm>
          <a:prstGeom prst="rect">
            <a:avLst/>
          </a:prstGeom>
          <a:solidFill>
            <a:srgbClr val="4DD6E6"/>
          </a:solidFill>
          <a:ln/>
        </p:spPr>
      </p:sp>
      <p:sp>
        <p:nvSpPr>
          <p:cNvPr id="6" name="Shape 4"/>
          <p:cNvSpPr/>
          <p:nvPr/>
        </p:nvSpPr>
        <p:spPr>
          <a:xfrm>
            <a:off x="9015984" y="0"/>
            <a:ext cx="91440" cy="5143500"/>
          </a:xfrm>
          <a:prstGeom prst="rect">
            <a:avLst/>
          </a:prstGeom>
          <a:solidFill>
            <a:srgbClr val="00B5C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14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AI demonstrates that AI-powered tools can make clinical blood report analysis accessible, accurate, and actionable for everyone.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749808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05740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pipeline successfully interprets 17+ blood parameters with context-awareness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624328"/>
            <a:ext cx="749808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243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62432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Groq-powered AI generates structured, patient-friendly clinical narratives in seconds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191256"/>
            <a:ext cx="749808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9125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191256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recommendations provide actionable guidance across Diet, Exercise &amp; Lifestyle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758184"/>
            <a:ext cx="749808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0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5818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3758184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 export makes the tool ready for real clinical pilot deployment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Samridhi Roy  ·  Infosys Springboard Cohort 7  ·  HEALTH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AI - AI Blood Report Analyzer</dc:title>
  <dc:subject>PptxGenJS Presentation</dc:subject>
  <dc:creator>Samridhi Roy</dc:creator>
  <cp:lastModifiedBy>Samridhi Roy</cp:lastModifiedBy>
  <cp:revision>1</cp:revision>
  <dcterms:created xsi:type="dcterms:W3CDTF">2026-02-19T11:11:39Z</dcterms:created>
  <dcterms:modified xsi:type="dcterms:W3CDTF">2026-02-19T11:11:39Z</dcterms:modified>
</cp:coreProperties>
</file>